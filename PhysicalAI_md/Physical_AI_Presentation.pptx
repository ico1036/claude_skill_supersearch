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69305" y="1652588"/>
            <a:ext cx="6005242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AI: 기대 vs 현실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137358" y="2500313"/>
            <a:ext cx="486913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"타이밍 문제가 아니라 토폴로지 문제다"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878771" y="3252788"/>
            <a:ext cx="33864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휴머노이드 로봇, 왜 아직도 안 되는 걸까?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34779" y="4438650"/>
            <a:ext cx="27277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2026.01 | Dialectic Insight Protocol v2.0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64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핵심 숫자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17427"/>
            <a:ext cx="8290661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7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~13,000대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07950" y="2558802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글로벌 휴머노이드 출하량 (iPhone의 0.005%)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3181052"/>
            <a:ext cx="241809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7950" y="3768328"/>
            <a:ext cx="241809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AI 밸류에이션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6584" y="3181052"/>
            <a:ext cx="241809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$7.5B+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6584" y="3768328"/>
            <a:ext cx="241809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총 투자액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5218" y="3181052"/>
            <a:ext cx="241809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2-4시간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65218" y="3796903"/>
            <a:ext cx="241809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수명 (필요: 8시간)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64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통념: 모두가 믿는 이야기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53877"/>
            <a:ext cx="3951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BELIEF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653927"/>
            <a:ext cx="3873550" cy="6000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1653927"/>
            <a:ext cx="0" cy="600075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001" y="1844427"/>
            <a:ext cx="337477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"하드웨어 비용이 아직 비싸서..."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406402"/>
            <a:ext cx="3873550" cy="6000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6525" y="2406402"/>
            <a:ext cx="0" cy="600075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001" y="2596902"/>
            <a:ext cx="337477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"시간 문제야, 몇 년 뒤면..."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3158877"/>
            <a:ext cx="3873550" cy="6000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6525" y="3158877"/>
            <a:ext cx="0" cy="600075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001" y="3349377"/>
            <a:ext cx="337477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"학습 데이터가 더 필요할 뿐"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950" y="3911352"/>
            <a:ext cx="3873550" cy="6000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36525" y="3911352"/>
            <a:ext cx="0" cy="600075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4101852"/>
            <a:ext cx="337477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"$7.5B 투자면 곧 해결되겠지"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62500" y="2208163"/>
            <a:ext cx="3873550" cy="1663601"/>
          </a:xfrm>
          <a:prstGeom prst="roundRect">
            <a:avLst>
              <a:gd name="adj" fmla="val 6107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47564" y="2525613"/>
            <a:ext cx="330342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"Physical AI는
</a:t>
            </a:r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타이밍 문제</a:t>
            </a:r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다.</a:t>
            </a:r>
            <a:endParaRPr lang="en-US" sz="1800" dirty="0"/>
          </a:p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비용과 시간이 해결해줄 것."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6427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현실: 균열이 보인다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26927"/>
            <a:ext cx="4000500" cy="904577"/>
          </a:xfrm>
          <a:prstGeom prst="roundRect">
            <a:avLst>
              <a:gd name="adj" fmla="val 112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126927"/>
            <a:ext cx="0" cy="904577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279327"/>
            <a:ext cx="3643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반례 #1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6075" y="1469827"/>
            <a:ext cx="36433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40% 하락 → BUT 배치는?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6075" y="1714202"/>
            <a:ext cx="364331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여전히 수백 대 수준. 비용이 문제가 아니었다.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35401" y="1126927"/>
            <a:ext cx="4000500" cy="904577"/>
          </a:xfrm>
          <a:prstGeom prst="roundRect">
            <a:avLst>
              <a:gd name="adj" fmla="val 112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59213" y="1126927"/>
            <a:ext cx="0" cy="904577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526" y="1279327"/>
            <a:ext cx="3643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반례 #2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73526" y="1469827"/>
            <a:ext cx="36433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≠ 실제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526" y="1714202"/>
            <a:ext cx="364331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Dynamics 파쿠르: 20번 중 1번 성공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158454"/>
            <a:ext cx="4000500" cy="904577"/>
          </a:xfrm>
          <a:prstGeom prst="roundRect">
            <a:avLst>
              <a:gd name="adj" fmla="val 112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31763" y="2158454"/>
            <a:ext cx="0" cy="904577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075" y="2310854"/>
            <a:ext cx="3643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반례 #3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6075" y="2501354"/>
            <a:ext cx="36433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체화된 지식 부재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6075" y="2745730"/>
            <a:ext cx="364331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"LLM은 항해 책을 읽었지만 배 조종 감각이 없다"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35401" y="2158454"/>
            <a:ext cx="4000500" cy="904577"/>
          </a:xfrm>
          <a:prstGeom prst="roundRect">
            <a:avLst>
              <a:gd name="adj" fmla="val 112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59213" y="2158454"/>
            <a:ext cx="0" cy="904577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526" y="2310854"/>
            <a:ext cx="3643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반례 #4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3526" y="2501354"/>
            <a:ext cx="36433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= 10년+ 문제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526" y="2745730"/>
            <a:ext cx="364331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2-4시간 → 필요 8시간. 전고체 배터리 2027-2030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950" y="3189982"/>
            <a:ext cx="4000500" cy="904577"/>
          </a:xfrm>
          <a:prstGeom prst="roundRect">
            <a:avLst>
              <a:gd name="adj" fmla="val 112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31763" y="3189982"/>
            <a:ext cx="0" cy="904577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6075" y="3342382"/>
            <a:ext cx="3643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반례 #5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6075" y="3532882"/>
            <a:ext cx="36433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숨겨진 80%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6075" y="3777258"/>
            <a:ext cx="364331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"로봇은 배치 비용의 20%. 나머지 80%는 인프라" - McKinsey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35401" y="3189982"/>
            <a:ext cx="4000500" cy="904577"/>
          </a:xfrm>
          <a:prstGeom prst="roundRect">
            <a:avLst>
              <a:gd name="adj" fmla="val 112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59213" y="3189982"/>
            <a:ext cx="0" cy="904577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526" y="3342382"/>
            <a:ext cx="3643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반례 #6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73526" y="3532882"/>
            <a:ext cx="3643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Gap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73526" y="3767733"/>
            <a:ext cx="364331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훈련 분포 내 99% 성공해도, 분포 외 상황은 무한대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Framework: 문제 분해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36575"/>
            <a:ext cx="8128099" cy="939701"/>
          </a:xfrm>
          <a:prstGeom prst="roundRect">
            <a:avLst>
              <a:gd name="adj" fmla="val 1081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5401" y="1201638"/>
            <a:ext cx="45328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3702" y="1165175"/>
            <a:ext cx="59959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미해결 - Generalization, 배터리, 인지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3702" y="1466701"/>
            <a:ext cx="59959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근본적 제약. 해결 시점 불명. 훈련 외 상황 = 무한대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56016" y="1262063"/>
            <a:ext cx="662583" cy="288727"/>
          </a:xfrm>
          <a:prstGeom prst="roundRect">
            <a:avLst>
              <a:gd name="adj" fmla="val 5278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08416" y="1325463"/>
            <a:ext cx="3649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10년+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028676"/>
            <a:ext cx="8128099" cy="939701"/>
          </a:xfrm>
          <a:prstGeom prst="roundRect">
            <a:avLst>
              <a:gd name="adj" fmla="val 1081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5401" y="2293739"/>
            <a:ext cx="45328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23702" y="2257276"/>
            <a:ext cx="60318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 - Sim-to-Real, 촉각, 정밀 조작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3702" y="2558802"/>
            <a:ext cx="60318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중. F-TAC(Nature 2025), World Models 연구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91140" y="2354163"/>
            <a:ext cx="627459" cy="288727"/>
          </a:xfrm>
          <a:prstGeom prst="roundRect">
            <a:avLst>
              <a:gd name="adj" fmla="val 5278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43540" y="2417564"/>
            <a:ext cx="3291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950" y="3120777"/>
            <a:ext cx="8128099" cy="939701"/>
          </a:xfrm>
          <a:prstGeom prst="roundRect">
            <a:avLst>
              <a:gd name="adj" fmla="val 1081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5401" y="3385840"/>
            <a:ext cx="45328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23702" y="3349377"/>
            <a:ext cx="61143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해결됨 - 비용, 하드웨어, 기초 SW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3702" y="3650903"/>
            <a:ext cx="61143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$16K→$3K 달성 가능. 기본 로코모션 OK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102" y="3446264"/>
            <a:ext cx="546497" cy="288727"/>
          </a:xfrm>
          <a:prstGeom prst="roundRect">
            <a:avLst>
              <a:gd name="adj" fmla="val 52783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24502" y="3509665"/>
            <a:ext cx="2465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64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역사적 유사 패턴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53877"/>
            <a:ext cx="3429149" cy="3572173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07778"/>
            <a:ext cx="297977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자율주행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1851" y="1790254"/>
            <a:ext cx="29797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2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2015-2020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0901" y="2152204"/>
            <a:ext cx="0" cy="247501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351" y="2152204"/>
            <a:ext cx="278546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"5년 뒤면 완전 자율주행"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1851" y="2590205"/>
            <a:ext cx="29797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Long-tail 문제: 마지막 1%가 무한대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8501" y="2778026"/>
            <a:ext cx="27233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207050" y="1253877"/>
            <a:ext cx="3429149" cy="3572173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60950" y="1507778"/>
            <a:ext cx="29797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0950" y="1780729"/>
            <a:ext cx="29797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2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0000" y="2142679"/>
            <a:ext cx="0" cy="247501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1450" y="2142679"/>
            <a:ext cx="278546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"몇 년 뒤면 휴머노이드 대중화"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60950" y="2580680"/>
            <a:ext cx="29797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gap: 훈련 외 상황이 무한대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950" y="4225975"/>
            <a:ext cx="8128099" cy="600075"/>
          </a:xfrm>
          <a:prstGeom prst="roundRect">
            <a:avLst>
              <a:gd name="adj" fmla="val 1693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0979" y="4416475"/>
            <a:ext cx="79020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 PDA vs iPhone: 기술 데모 ≠ 제품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6427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중국 vs 미국: 출하량 역전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53877"/>
            <a:ext cx="47411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출하량 순위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561802"/>
            <a:ext cx="4648200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742777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9950" y="1714202"/>
            <a:ext cx="28774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AgiBot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9950" y="1961852"/>
            <a:ext cx="28774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81488" y="1799927"/>
            <a:ext cx="6978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5,168대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950" y="2403128"/>
            <a:ext cx="4648200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8450" y="2584103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69950" y="2555528"/>
            <a:ext cx="28774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Unitree Robotics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69950" y="2803178"/>
            <a:ext cx="28774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81488" y="2641253"/>
            <a:ext cx="6978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950" y="3244453"/>
            <a:ext cx="4648200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8450" y="3425428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69950" y="3396853"/>
            <a:ext cx="30374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Optimus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9950" y="3644503"/>
            <a:ext cx="30374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8352" y="3482578"/>
            <a:ext cx="5378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37150" y="1253877"/>
            <a:ext cx="3098899" cy="1263551"/>
          </a:xfrm>
          <a:prstGeom prst="roundRect">
            <a:avLst>
              <a:gd name="adj" fmla="val 80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39333" y="1482477"/>
            <a:ext cx="269453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739333" y="2107853"/>
            <a:ext cx="2694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중국 글로벌 점유율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7150" y="2707928"/>
            <a:ext cx="3098899" cy="1263551"/>
          </a:xfrm>
          <a:prstGeom prst="roundRect">
            <a:avLst>
              <a:gd name="adj" fmla="val 80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39333" y="2936528"/>
            <a:ext cx="269453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$6,000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739333" y="3561904"/>
            <a:ext cx="26945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Unitree 가격 vs $100K+ (미국)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전문가들의 목소리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36575"/>
            <a:ext cx="8128099" cy="1327100"/>
          </a:xfrm>
          <a:prstGeom prst="roundRect">
            <a:avLst>
              <a:gd name="adj" fmla="val 7656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1763" y="936575"/>
            <a:ext cx="0" cy="132710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026" y="1165175"/>
            <a:ext cx="75944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"휴머노이드 로봇이 인간 활동을 복제하는 것을 자세히 보면, 대부분의 시간 동안 실패하는 것을 볼 수 있다."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73026" y="1863626"/>
            <a:ext cx="7594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Cedric Vincent, Tria Technologies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2454176"/>
            <a:ext cx="8128099" cy="1041350"/>
          </a:xfrm>
          <a:prstGeom prst="roundRect">
            <a:avLst>
              <a:gd name="adj" fmla="val 975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1763" y="2454176"/>
            <a:ext cx="0" cy="104135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026" y="2682776"/>
            <a:ext cx="75944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"로봇 배치에 $100 쓸 때, 실제 기계 값은 $20뿐. 나머지 $80은 인프라."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3026" y="3095476"/>
            <a:ext cx="7594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Ani Kelkar, McKinsey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3686026"/>
            <a:ext cx="8128099" cy="844451"/>
          </a:xfrm>
          <a:prstGeom prst="roundRect">
            <a:avLst>
              <a:gd name="adj" fmla="val 1203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0421" y="3881289"/>
            <a:ext cx="15279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Jensen Huang (NVIDIA)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0421" y="4097089"/>
            <a:ext cx="15279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"몇 년 뒤"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15123" y="3960614"/>
            <a:ext cx="2881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72073" y="3876526"/>
            <a:ext cx="17638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Rodney Brooks (로봇 선구자)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72073" y="4101852"/>
            <a:ext cx="1763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"최소 10년+"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36427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What? 액션 아이템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5387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당장 할 수 있는 3가지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682502"/>
            <a:ext cx="2540050" cy="1926878"/>
          </a:xfrm>
          <a:prstGeom prst="roundRect">
            <a:avLst>
              <a:gd name="adj" fmla="val 52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706314"/>
            <a:ext cx="2540050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851" y="1984028"/>
            <a:ext cx="207289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61851" y="2577703"/>
            <a:ext cx="20728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"When" → "Where"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1851" y="2888754"/>
            <a:ext cx="2072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 되냐고 묻지 말고, 어디에서 지금 ROI가 나는지 물어라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01901" y="1682502"/>
            <a:ext cx="2540050" cy="1926878"/>
          </a:xfrm>
          <a:prstGeom prst="roundRect">
            <a:avLst>
              <a:gd name="adj" fmla="val 52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01901" y="1706314"/>
            <a:ext cx="2540050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5802" y="1984028"/>
            <a:ext cx="207289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55802" y="2577703"/>
            <a:ext cx="207289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로봇 20% &lt; 인프라 80%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55802" y="2898279"/>
            <a:ext cx="2072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로봇 본체보다 인프라에 4배 더 투자하라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5851" y="1682502"/>
            <a:ext cx="2540050" cy="1926878"/>
          </a:xfrm>
          <a:prstGeom prst="roundRect">
            <a:avLst>
              <a:gd name="adj" fmla="val 52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95851" y="1706314"/>
            <a:ext cx="2540050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9752" y="1984028"/>
            <a:ext cx="207289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49752" y="2577703"/>
            <a:ext cx="207289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 &lt; 특화 (단기)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9752" y="2898279"/>
            <a:ext cx="2072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 휴머노이드는 고위험 베팅. 특화 로봇이 현재 ROI 창출 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950" y="3863280"/>
            <a:ext cx="8128099" cy="733425"/>
          </a:xfrm>
          <a:prstGeom prst="roundRect">
            <a:avLst>
              <a:gd name="adj" fmla="val 13853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5401" y="4053780"/>
            <a:ext cx="863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00584" y="4120455"/>
            <a:ext cx="478640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패턴: 통제된 환경 + 반복 작업 + 분리 구역 + 지속적 인간 감독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0494" y="1021259"/>
            <a:ext cx="6982864" cy="113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spcAft>
                <a:spcPts val="20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AI는
</a:t>
            </a:r>
            <a:pPr algn="ctr" indent="0" marL="0">
              <a:lnSpc>
                <a:spcPts val="4480"/>
              </a:lnSpc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"타이밍" 문제가 아니라 "토폴로지" 문제</a:t>
            </a:r>
            <a:pPr algn="ctr" indent="0" marL="0">
              <a:lnSpc>
                <a:spcPts val="4480"/>
              </a:lnSpc>
              <a:spcAft>
                <a:spcPts val="20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91000" y="2730550"/>
            <a:ext cx="762000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32095" y="3086100"/>
            <a:ext cx="3079662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가능한 문제(Layer 1)와</a:t>
            </a:r>
            <a:endParaRPr lang="en-US" sz="1800" dirty="0"/>
          </a:p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근본적 제약(Layer 3)을 구분하라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64120" y="3817441"/>
            <a:ext cx="38156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"When"이 아니라 "Where"를 물어라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AI: 기대 vs 현실</dc:title>
  <dc:subject>휴머노이드 로봇의 현실과 투자 시사점</dc:subject>
  <dc:creator>Dialectic Insight Protocol</dc:creator>
  <cp:lastModifiedBy>Dialectic Insight Protocol</cp:lastModifiedBy>
  <cp:revision>1</cp:revision>
  <dcterms:created xsi:type="dcterms:W3CDTF">2026-01-21T00:29:14Z</dcterms:created>
  <dcterms:modified xsi:type="dcterms:W3CDTF">2026-01-21T00:29:14Z</dcterms:modified>
</cp:coreProperties>
</file>